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Váha</c:v>
                </c:pt>
              </c:strCache>
            </c:strRef>
          </c:tx>
          <c:spPr>
            <a:solidFill>
              <a:srgbClr val="157A78"/>
            </a:solidFill>
            <a:effectLst/>
          </c:spPr>
          <c:invertIfNegative val="0"/>
          <c:dLbls>
            <c:numFmt formatCode="0&quot; %&quot;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1230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7A7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94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FB3A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FD0C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Vzdálenost od ostatních zakázek téhož dne</c:v>
                  </c:pt>
                  <c:pt idx="1">
                    <c:v>Historická spolehlivost (dokončeno včas)</c:v>
                  </c:pt>
                  <c:pt idx="2">
                    <c:v>Hodnocení kvality od majitelů</c:v>
                  </c:pt>
                  <c:pt idx="3">
                    <c:v>Doba od poslední zakázky (rovnoměrnost)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dLbls>
          <c:numFmt formatCode="0&quot; %&quot;" sourceLinked="0"/>
          <c:txPr>
            <a:bodyPr/>
            <a:lstStyle/>
            <a:p>
              <a:pPr>
                <a:defRPr b="1" i="0" strike="noStrike" sz="1500" u="none">
                  <a:solidFill>
                    <a:srgbClr val="1230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50" b="1" i="0" u="none" strike="noStrike">
                <a:solidFill>
                  <a:srgbClr val="1230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3F6F5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F3F6F5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SimplyClean je digitální pracovní platforma, která majitelům krátkodobých pronájmů v Praze automaticky objednává úklid mezi hosty. Majitel jednou připojí rezervační kalendář; od té chvíle systém při každé rezervaci sám vytvoří úklidový slot a nabídne ho uklízečkám v okolí. Tým: Michael Černý, Jakub Lisý, Anna Štefanková, Oliver Slivka, Martin Růžek.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Rezervační kalendář a uklízečka spolu nekomunikují. Každou změnu musí majitel ručně přeložit na objednávku a odeslat přes WhatsApp. Při 70% obsazenosti a průměrné délce pobytu 2,5–3 noci vychází 7 až 9 výměn hostů měsíčně na jeden byt. Důsledky: desítky minut u každé rezervace, změny se k uklízečce nedostanou včas, úklid propadne a host to napíše do recenze.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Whys: 1) majitel tráví čas objednáváním, protože každou rezervaci musí ručně převést na objednávku; 2) ručně, protože kalendář a uklízečka jsou dva oddělené světy; 3) nejsou propojené, protože platformy provoz neřeší a uklízečka žádný systém nemá; 4) systém si nikdo nepořídí, protože ani jedna strana nemá objem; 5) objem nemá, protože jeden byt vyprodukuje 7–9 úklidů měsíčně a jedna uklízečka obsluhuje několik klientů. Ishikawa: kategorie Informace, Procesy, Lidé, Měřítko, Čas, Trh. Sdílená vrstva mezi kalendářem a uklízečkou se vyplatí až při agregaci mnoha majitelů — to jednotlivec neudělá.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Pohled majitele: 1) registrace a připojení kalendáře přes iCal — jednorázový úkon, cca 5 minut; 2) automatický provoz — při každé rezervaci vznikne úklidový slot v okně mezi odjezdem a příjezdem (rezerva 30 minut na obou koncích); 3) změny — při posunu nebo zrušení se slot automaticky přeplánuje; 4) kontrola — fotoprotokol z předem definovaných míst; 5) platba — souhrnná měsíční faktura. Záskok při výpadku: u rizikových slotů (okno pod 4 h, víkend, sezóna) systém označí záložní uklízečku, která už ten den uklízí do 2 km. Role je dobrovolná a odměna náleží i bez zásahu.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Platforma provozuje čtyři automatizované funkce: a) generování slotu, b) skóre přiřazení (vzdálenost 40 %, spolehlivost 30 %, kvalita 20 %, rovnoměrnost 10 %), c) dynamickou tvorbu ceny (příplatky za krátké okno, víkend, sezónu, expresní obsazení — sazbu si ale uklízečka stanovuje sama v pásmu), d) hodnocení kvality z fotoprotokolu. Trasování je ekonomickým jádrem: uklízečka dnes zvládne 2–3 byty denně kvůli přejezdům; se 4 byty v okolí vydělá 2 600 Kč hrubého za den místo 1 950 Kč. Každé automatizované rozhodnutí je vysvětlitelné a přezkoumatelné člověkem.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TAM: v červnu 2026 bylo v Praze evidováno 7 878 aktivních celých bytů nebo domů na Airbnb, tj. ≈ 1,1 % bytového fondu (IPR Praha). SAM: na jednoho hostitele připadá 2,8 jednotky, téměř 80 % nabídky provozují multihostitelé; zhruba polovinu spravují firmy s 10+ jednotkami. Majitelé 1–5 bytů bez profesionální správy = cca 3 900 bytů a 1 400 hostitelů. Poptávka: v roce 2025 se v Praze ubytovalo 8,27 milionu hostů, nejvíce v historii (ČSÚ). Konkurence: full-service správci (Hostly, BnB Plus, Seven Keys), úklidové firmy (Ukliď mi, Úklid SOS) bez napojení na kalendář, zahraniční nástroje (Turno) bez české sítě uklízeček.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Zdroje příjmů: provize 18 % z ceny úklidu (hlavní), volitelný příplatek za garanci záskoku 49 Kč, výhledově B2B licence pro menší správcovské firmy. Žádný vstupní poplatek ani předplatné — bariéra vstupu je nulová. Jednotková ekonomika: cena úklidu 800 Kč, výplata uklízečce 656 Kč (82 %), provize 144 Kč + garance 49 Kč = 193 Kč hrubého, minus platební brána 1,5 % = 180 Kč marže na úklid; × 8 úklidů = 1 440 Kč na byt měsíčně. Akvizice majitele 800–1 500 Kč → návratnost do jednoho měsíce (u marketplaců obvykle 6+ měsíců). Konzervativní scénář se 40% využitím garance: 1 205 Kč. Fixní náklady 260 tis. Kč/měsíc (vývoj 88, provoz 70, marketing 55, právní 22, finance 10, rezerva 15). Bod zvratu 180–220 bytů ≈ 5 % SAM. Strop SAM 56–67 mil. Kč ročně.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Směrnice (EU) 2024/2831 o platformové práci — transpozice do 2. 12. 2026. MPSV předložilo v březnu 2026 návrh zákona o platformové práci, účinnost plánována na 1. 12. 2026. Naše služba organizuje práci uklízeček, a proto pod zákon spadá v plném rozsahu (na rozdíl od Airbnb, které zprostředkovává ubytování). Jádrem návrhu je vyvratitelná domněnka pracovněprávního vztahu: pokud platforma pracovníka řídí a kontroluje (určuje odměnu, sankcionuje odmítnutí, vyžaduje exkluzivitu), má se za to, že jde o zaměstnání. Služba je navržena tak, aby domněnku ustála: vlastní sazba, žádné sankce, žádná exkluzivita, dobrovolný záskok, lidský přezkum algoritmických rozhodnutí. Etické zásady nad rámec zákona: transparentní cena, týdenní výplata bez ohledu na platební morálku majitele, žádné veřejné srovnávání sazeb, rozhraní v češtině, ukrajinštině a angličtině.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 cíl: do šesti měsíců od spuštění v Praze dosáhnout 150 aktivních bytů, 95 % úklidů objednaných bez zásahu majitele a průměrně méně než jedné minuty jeho času na jeden úklid. Matice rizik: málo uklízeček na startu (vysoká/vysoký) → spustit v jedné části města; změna API/iCal (nízká/vysoký) → dva nezávislé kanály, ruční fallback; regulace krátkodobých pronájmů (střední/vysoký) → služba funguje pro jakýkoli opakovaný úklid; překlasifikace uklízeček (střední/vysoký) → vlastní cenotvorba, dobrovolnost, žádné sankce; majitel po nalezení uklízečky odejde (vysoká/střední) → hodnota je v automatice a záskoku; vstup Turna na český trh (nízká/střední) → lokální síť jako bariéra vstupu.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Klíčové sdělení pro majitele: „Nula zpráv měsíčně. Kalendář připojíte jednou.“ Pro uklízečku: „Čtyři byty vedle sebe místo přes celou Prahu. Sazbu si určujete sami.“ Deklarace GenAI: rešerše a ověřování zdrojů s pomocí AI, všechny údaje ověřeny proti primárním zdrojům; analytické metodiky (5 Whys, Ishikawa, FrED, SWOT, stakeholder matice) zpracoval tým.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image" Target="../media/image-5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29500" y="-2857500"/>
            <a:ext cx="6985000" cy="6985000"/>
          </a:xfrm>
          <a:prstGeom prst="ellipse">
            <a:avLst/>
          </a:prstGeom>
          <a:solidFill>
            <a:srgbClr val="D9ECEA">
              <a:alpha val="90000"/>
            </a:srgbClr>
          </a:solidFill>
          <a:ln w="12700">
            <a:solidFill>
              <a:srgbClr val="D9EC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70000" y="5207000"/>
            <a:ext cx="3302000" cy="3302000"/>
          </a:xfrm>
          <a:prstGeom prst="ellipse">
            <a:avLst/>
          </a:prstGeom>
          <a:solidFill>
            <a:srgbClr val="FBE6D9">
              <a:alpha val="80000"/>
            </a:srgbClr>
          </a:solidFill>
          <a:ln w="12700">
            <a:solidFill>
              <a:srgbClr val="FBE6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1587500"/>
            <a:ext cx="7620000" cy="406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1587500"/>
            <a:ext cx="762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5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METADOVEDNOSTI PRO PRAXI I · PROJEKTOVÁ DOKUMENTACE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89200" y="2413000"/>
            <a:ext cx="889000" cy="889000"/>
          </a:xfrm>
          <a:prstGeom prst="roundRect">
            <a:avLst>
              <a:gd name="adj" fmla="val 28000"/>
            </a:avLst>
          </a:prstGeom>
          <a:solidFill>
            <a:srgbClr val="157A78"/>
          </a:solidFill>
          <a:ln w="12700">
            <a:solidFill>
              <a:srgbClr val="157A78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157A78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689225" y="2613025"/>
            <a:ext cx="488950" cy="488950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06800" y="2222500"/>
            <a:ext cx="635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0" b="1" spc="-400" kern="0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SimplyClean</a:t>
            </a:r>
            <a:endParaRPr lang="en-US" sz="7500" dirty="0"/>
          </a:p>
        </p:txBody>
      </p:sp>
      <p:sp>
        <p:nvSpPr>
          <p:cNvPr id="9" name="Text 7"/>
          <p:cNvSpPr/>
          <p:nvPr/>
        </p:nvSpPr>
        <p:spPr>
          <a:xfrm>
            <a:off x="1651000" y="37465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Automatické objednávání úklidu krátkodobých pronájmů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62000" y="5969000"/>
            <a:ext cx="1066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Tým č. 3 „Mladé svaly“ · Skupina S4 · Mentor prof. Josef Hynek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29500" y="-2857500"/>
            <a:ext cx="6985000" cy="6985000"/>
          </a:xfrm>
          <a:prstGeom prst="ellipse">
            <a:avLst/>
          </a:prstGeom>
          <a:solidFill>
            <a:srgbClr val="D9ECEA">
              <a:alpha val="90000"/>
            </a:srgbClr>
          </a:solidFill>
          <a:ln w="12700">
            <a:solidFill>
              <a:srgbClr val="D9EC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70000" y="5207000"/>
            <a:ext cx="3302000" cy="3302000"/>
          </a:xfrm>
          <a:prstGeom prst="ellipse">
            <a:avLst/>
          </a:prstGeom>
          <a:solidFill>
            <a:srgbClr val="FBE6D9">
              <a:alpha val="80000"/>
            </a:srgbClr>
          </a:solidFill>
          <a:ln w="12700">
            <a:solidFill>
              <a:srgbClr val="FBE6D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6350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PROBLÉM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9525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spc="-100" kern="0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Každá rezervace = ruční objednávka úklidu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62000" y="1905000"/>
            <a:ext cx="4445000" cy="3556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12303F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16000" y="2133600"/>
            <a:ext cx="393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Rezervační kalendář · Byt Vinohrady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16000" y="2514600"/>
            <a:ext cx="457200" cy="457200"/>
          </a:xfrm>
          <a:prstGeom prst="roundRect">
            <a:avLst>
              <a:gd name="adj" fmla="val 19444"/>
            </a:avLst>
          </a:prstGeom>
          <a:solidFill>
            <a:srgbClr val="EEF2F1"/>
          </a:solidFill>
          <a:ln w="12700">
            <a:solidFill>
              <a:srgbClr val="EEF2F1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60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549400" y="2514600"/>
            <a:ext cx="457200" cy="457200"/>
          </a:xfrm>
          <a:prstGeom prst="roundRect">
            <a:avLst>
              <a:gd name="adj" fmla="val 19444"/>
            </a:avLst>
          </a:prstGeom>
          <a:solidFill>
            <a:srgbClr val="157A78"/>
          </a:solidFill>
          <a:ln w="25400">
            <a:solidFill>
              <a:srgbClr val="D962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494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082800" y="2514600"/>
            <a:ext cx="457200" cy="457200"/>
          </a:xfrm>
          <a:prstGeom prst="roundRect">
            <a:avLst>
              <a:gd name="adj" fmla="val 19444"/>
            </a:avLst>
          </a:prstGeom>
          <a:solidFill>
            <a:srgbClr val="157A78"/>
          </a:solidFill>
          <a:ln w="12700">
            <a:solidFill>
              <a:srgbClr val="EEF2F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828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16200" y="2514600"/>
            <a:ext cx="457200" cy="457200"/>
          </a:xfrm>
          <a:prstGeom prst="roundRect">
            <a:avLst>
              <a:gd name="adj" fmla="val 19444"/>
            </a:avLst>
          </a:prstGeom>
          <a:solidFill>
            <a:srgbClr val="157A78"/>
          </a:solidFill>
          <a:ln w="12700">
            <a:solidFill>
              <a:srgbClr val="EEF2F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162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149600" y="2514600"/>
            <a:ext cx="457200" cy="457200"/>
          </a:xfrm>
          <a:prstGeom prst="roundRect">
            <a:avLst>
              <a:gd name="adj" fmla="val 19444"/>
            </a:avLst>
          </a:prstGeom>
          <a:solidFill>
            <a:srgbClr val="EEF2F1"/>
          </a:solidFill>
          <a:ln w="12700">
            <a:solidFill>
              <a:srgbClr val="EEF2F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496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83000" y="2514600"/>
            <a:ext cx="457200" cy="457200"/>
          </a:xfrm>
          <a:prstGeom prst="roundRect">
            <a:avLst>
              <a:gd name="adj" fmla="val 19444"/>
            </a:avLst>
          </a:prstGeom>
          <a:solidFill>
            <a:srgbClr val="157A78"/>
          </a:solidFill>
          <a:ln w="25400">
            <a:solidFill>
              <a:srgbClr val="D962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830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216400" y="2514600"/>
            <a:ext cx="457200" cy="457200"/>
          </a:xfrm>
          <a:prstGeom prst="roundRect">
            <a:avLst>
              <a:gd name="adj" fmla="val 19444"/>
            </a:avLst>
          </a:prstGeom>
          <a:solidFill>
            <a:srgbClr val="157A78"/>
          </a:solidFill>
          <a:ln w="12700">
            <a:solidFill>
              <a:srgbClr val="EEF2F1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164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16000" y="3048000"/>
            <a:ext cx="457200" cy="457200"/>
          </a:xfrm>
          <a:prstGeom prst="roundRect">
            <a:avLst>
              <a:gd name="adj" fmla="val 19444"/>
            </a:avLst>
          </a:prstGeom>
          <a:solidFill>
            <a:srgbClr val="EEF2F1"/>
          </a:solidFill>
          <a:ln w="12700">
            <a:solidFill>
              <a:srgbClr val="EEF2F1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6000" y="3048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549400" y="3048000"/>
            <a:ext cx="457200" cy="457200"/>
          </a:xfrm>
          <a:prstGeom prst="roundRect">
            <a:avLst>
              <a:gd name="adj" fmla="val 19444"/>
            </a:avLst>
          </a:prstGeom>
          <a:solidFill>
            <a:srgbClr val="157A78"/>
          </a:solidFill>
          <a:ln w="25400">
            <a:solidFill>
              <a:srgbClr val="D962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49400" y="3048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082800" y="3048000"/>
            <a:ext cx="457200" cy="457200"/>
          </a:xfrm>
          <a:prstGeom prst="roundRect">
            <a:avLst>
              <a:gd name="adj" fmla="val 19444"/>
            </a:avLst>
          </a:prstGeom>
          <a:solidFill>
            <a:srgbClr val="157A78"/>
          </a:solidFill>
          <a:ln w="12700">
            <a:solidFill>
              <a:srgbClr val="EEF2F1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82800" y="3048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616200" y="3048000"/>
            <a:ext cx="457200" cy="457200"/>
          </a:xfrm>
          <a:prstGeom prst="roundRect">
            <a:avLst>
              <a:gd name="adj" fmla="val 19444"/>
            </a:avLst>
          </a:prstGeom>
          <a:solidFill>
            <a:srgbClr val="157A78"/>
          </a:solidFill>
          <a:ln w="12700">
            <a:solidFill>
              <a:srgbClr val="EEF2F1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16200" y="3048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149600" y="3048000"/>
            <a:ext cx="457200" cy="457200"/>
          </a:xfrm>
          <a:prstGeom prst="roundRect">
            <a:avLst>
              <a:gd name="adj" fmla="val 19444"/>
            </a:avLst>
          </a:prstGeom>
          <a:solidFill>
            <a:srgbClr val="157A78"/>
          </a:solidFill>
          <a:ln w="12700">
            <a:solidFill>
              <a:srgbClr val="EEF2F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49600" y="3048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683000" y="3048000"/>
            <a:ext cx="457200" cy="457200"/>
          </a:xfrm>
          <a:prstGeom prst="roundRect">
            <a:avLst>
              <a:gd name="adj" fmla="val 19444"/>
            </a:avLst>
          </a:prstGeom>
          <a:solidFill>
            <a:srgbClr val="EEF2F1"/>
          </a:solidFill>
          <a:ln w="12700">
            <a:solidFill>
              <a:srgbClr val="EEF2F1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83000" y="3048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216400" y="3048000"/>
            <a:ext cx="457200" cy="457200"/>
          </a:xfrm>
          <a:prstGeom prst="roundRect">
            <a:avLst>
              <a:gd name="adj" fmla="val 19444"/>
            </a:avLst>
          </a:prstGeom>
          <a:solidFill>
            <a:srgbClr val="157A78"/>
          </a:solidFill>
          <a:ln w="25400">
            <a:solidFill>
              <a:srgbClr val="D962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16400" y="3048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016000" y="3581400"/>
            <a:ext cx="457200" cy="457200"/>
          </a:xfrm>
          <a:prstGeom prst="roundRect">
            <a:avLst>
              <a:gd name="adj" fmla="val 19444"/>
            </a:avLst>
          </a:prstGeom>
          <a:solidFill>
            <a:srgbClr val="157A78"/>
          </a:solidFill>
          <a:ln w="12700">
            <a:solidFill>
              <a:srgbClr val="EEF2F1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16000" y="3581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549400" y="3581400"/>
            <a:ext cx="457200" cy="457200"/>
          </a:xfrm>
          <a:prstGeom prst="roundRect">
            <a:avLst>
              <a:gd name="adj" fmla="val 19444"/>
            </a:avLst>
          </a:prstGeom>
          <a:solidFill>
            <a:srgbClr val="EEF2F1"/>
          </a:solidFill>
          <a:ln w="12700">
            <a:solidFill>
              <a:srgbClr val="EEF2F1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549400" y="3581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082800" y="3581400"/>
            <a:ext cx="457200" cy="457200"/>
          </a:xfrm>
          <a:prstGeom prst="roundRect">
            <a:avLst>
              <a:gd name="adj" fmla="val 19444"/>
            </a:avLst>
          </a:prstGeom>
          <a:solidFill>
            <a:srgbClr val="157A78"/>
          </a:solidFill>
          <a:ln w="25400">
            <a:solidFill>
              <a:srgbClr val="D962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82800" y="3581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616200" y="3581400"/>
            <a:ext cx="457200" cy="457200"/>
          </a:xfrm>
          <a:prstGeom prst="roundRect">
            <a:avLst>
              <a:gd name="adj" fmla="val 19444"/>
            </a:avLst>
          </a:prstGeom>
          <a:solidFill>
            <a:srgbClr val="157A78"/>
          </a:solidFill>
          <a:ln w="12700">
            <a:solidFill>
              <a:srgbClr val="EEF2F1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16200" y="3581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149600" y="3581400"/>
            <a:ext cx="457200" cy="457200"/>
          </a:xfrm>
          <a:prstGeom prst="roundRect">
            <a:avLst>
              <a:gd name="adj" fmla="val 19444"/>
            </a:avLst>
          </a:prstGeom>
          <a:solidFill>
            <a:srgbClr val="157A78"/>
          </a:solidFill>
          <a:ln w="12700">
            <a:solidFill>
              <a:srgbClr val="EEF2F1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49600" y="3581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683000" y="3581400"/>
            <a:ext cx="457200" cy="457200"/>
          </a:xfrm>
          <a:prstGeom prst="roundRect">
            <a:avLst>
              <a:gd name="adj" fmla="val 19444"/>
            </a:avLst>
          </a:prstGeom>
          <a:solidFill>
            <a:srgbClr val="EEF2F1"/>
          </a:solidFill>
          <a:ln w="12700">
            <a:solidFill>
              <a:srgbClr val="EEF2F1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83000" y="3581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216400" y="3581400"/>
            <a:ext cx="457200" cy="457200"/>
          </a:xfrm>
          <a:prstGeom prst="roundRect">
            <a:avLst>
              <a:gd name="adj" fmla="val 19444"/>
            </a:avLst>
          </a:prstGeom>
          <a:solidFill>
            <a:srgbClr val="157A78"/>
          </a:solidFill>
          <a:ln w="25400">
            <a:solidFill>
              <a:srgbClr val="D9622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16400" y="3581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1016000" y="4114800"/>
            <a:ext cx="457200" cy="457200"/>
          </a:xfrm>
          <a:prstGeom prst="roundRect">
            <a:avLst>
              <a:gd name="adj" fmla="val 19444"/>
            </a:avLst>
          </a:prstGeom>
          <a:solidFill>
            <a:srgbClr val="157A78"/>
          </a:solidFill>
          <a:ln w="12700">
            <a:solidFill>
              <a:srgbClr val="EEF2F1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160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1549400" y="4114800"/>
            <a:ext cx="457200" cy="457200"/>
          </a:xfrm>
          <a:prstGeom prst="roundRect">
            <a:avLst>
              <a:gd name="adj" fmla="val 19444"/>
            </a:avLst>
          </a:prstGeom>
          <a:solidFill>
            <a:srgbClr val="157A78"/>
          </a:solidFill>
          <a:ln w="12700">
            <a:solidFill>
              <a:srgbClr val="EEF2F1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5494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2082800" y="4114800"/>
            <a:ext cx="457200" cy="457200"/>
          </a:xfrm>
          <a:prstGeom prst="roundRect">
            <a:avLst>
              <a:gd name="adj" fmla="val 19444"/>
            </a:avLst>
          </a:prstGeom>
          <a:solidFill>
            <a:srgbClr val="EEF2F1"/>
          </a:solidFill>
          <a:ln w="12700">
            <a:solidFill>
              <a:srgbClr val="EEF2F1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0828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2616200" y="4114800"/>
            <a:ext cx="457200" cy="457200"/>
          </a:xfrm>
          <a:prstGeom prst="roundRect">
            <a:avLst>
              <a:gd name="adj" fmla="val 19444"/>
            </a:avLst>
          </a:prstGeom>
          <a:solidFill>
            <a:srgbClr val="157A78"/>
          </a:solidFill>
          <a:ln w="25400">
            <a:solidFill>
              <a:srgbClr val="D9622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6162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3149600" y="4114800"/>
            <a:ext cx="457200" cy="457200"/>
          </a:xfrm>
          <a:prstGeom prst="roundRect">
            <a:avLst>
              <a:gd name="adj" fmla="val 19444"/>
            </a:avLst>
          </a:prstGeom>
          <a:solidFill>
            <a:srgbClr val="157A78"/>
          </a:solidFill>
          <a:ln w="12700">
            <a:solidFill>
              <a:srgbClr val="EEF2F1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1496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3683000" y="4114800"/>
            <a:ext cx="457200" cy="457200"/>
          </a:xfrm>
          <a:prstGeom prst="roundRect">
            <a:avLst>
              <a:gd name="adj" fmla="val 19444"/>
            </a:avLst>
          </a:prstGeom>
          <a:solidFill>
            <a:srgbClr val="EEF2F1"/>
          </a:solidFill>
          <a:ln w="12700">
            <a:solidFill>
              <a:srgbClr val="EEF2F1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830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4216400" y="4114800"/>
            <a:ext cx="457200" cy="457200"/>
          </a:xfrm>
          <a:prstGeom prst="roundRect">
            <a:avLst>
              <a:gd name="adj" fmla="val 19444"/>
            </a:avLst>
          </a:prstGeom>
          <a:solidFill>
            <a:srgbClr val="157A78"/>
          </a:solidFill>
          <a:ln w="25400">
            <a:solidFill>
              <a:srgbClr val="D9622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1640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1016000" y="4699000"/>
            <a:ext cx="393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▢ oranžově</a:t>
            </a:r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nový příjezd → je potřeba objednat úklid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8445500" y="1905000"/>
            <a:ext cx="2984500" cy="495300"/>
          </a:xfrm>
          <a:prstGeom prst="roundRect">
            <a:avLst>
              <a:gd name="adj" fmla="val 35897"/>
            </a:avLst>
          </a:prstGeom>
          <a:solidFill>
            <a:srgbClr val="157A78"/>
          </a:solidFill>
          <a:ln w="12700">
            <a:solidFill>
              <a:srgbClr val="157A78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12303F">
                <a:alpha val="8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8636000" y="1905000"/>
            <a:ext cx="2603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Ahoj, můžeš v úterý ve 13:00?</a:t>
            </a:r>
            <a:endParaRPr lang="en-US" sz="1500" dirty="0"/>
          </a:p>
        </p:txBody>
      </p:sp>
      <p:sp>
        <p:nvSpPr>
          <p:cNvPr id="67" name="Shape 65"/>
          <p:cNvSpPr/>
          <p:nvPr/>
        </p:nvSpPr>
        <p:spPr>
          <a:xfrm>
            <a:off x="6604000" y="2514600"/>
            <a:ext cx="3048000" cy="495300"/>
          </a:xfrm>
          <a:prstGeom prst="roundRect">
            <a:avLst>
              <a:gd name="adj" fmla="val 3589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12303F">
                <a:alpha val="8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6794500" y="2514600"/>
            <a:ext cx="2667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Jo, ale jen do 15. Kde je klíč?</a:t>
            </a:r>
            <a:endParaRPr lang="en-US" sz="1500" dirty="0"/>
          </a:p>
        </p:txBody>
      </p:sp>
      <p:sp>
        <p:nvSpPr>
          <p:cNvPr id="69" name="Shape 67"/>
          <p:cNvSpPr/>
          <p:nvPr/>
        </p:nvSpPr>
        <p:spPr>
          <a:xfrm>
            <a:off x="7874000" y="3124200"/>
            <a:ext cx="3556000" cy="495300"/>
          </a:xfrm>
          <a:prstGeom prst="roundRect">
            <a:avLst>
              <a:gd name="adj" fmla="val 35897"/>
            </a:avLst>
          </a:prstGeom>
          <a:solidFill>
            <a:srgbClr val="157A78"/>
          </a:solidFill>
          <a:ln w="12700">
            <a:solidFill>
              <a:srgbClr val="157A78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12303F">
                <a:alpha val="8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8064500" y="3124200"/>
            <a:ext cx="3175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se posunul, změna na 16:00 😩</a:t>
            </a:r>
            <a:endParaRPr lang="en-US" sz="1500" dirty="0"/>
          </a:p>
        </p:txBody>
      </p:sp>
      <p:sp>
        <p:nvSpPr>
          <p:cNvPr id="71" name="Shape 69"/>
          <p:cNvSpPr/>
          <p:nvPr/>
        </p:nvSpPr>
        <p:spPr>
          <a:xfrm>
            <a:off x="6604000" y="3733800"/>
            <a:ext cx="2286000" cy="495300"/>
          </a:xfrm>
          <a:prstGeom prst="roundRect">
            <a:avLst>
              <a:gd name="adj" fmla="val 3589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12303F">
                <a:alpha val="8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6794500" y="3733800"/>
            <a:ext cx="1905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už nestíhám, sorry</a:t>
            </a:r>
            <a:endParaRPr lang="en-US" sz="1500" dirty="0"/>
          </a:p>
        </p:txBody>
      </p:sp>
      <p:sp>
        <p:nvSpPr>
          <p:cNvPr id="73" name="Shape 71"/>
          <p:cNvSpPr/>
          <p:nvPr/>
        </p:nvSpPr>
        <p:spPr>
          <a:xfrm>
            <a:off x="8382000" y="4343400"/>
            <a:ext cx="3048000" cy="495300"/>
          </a:xfrm>
          <a:prstGeom prst="roundRect">
            <a:avLst>
              <a:gd name="adj" fmla="val 35897"/>
            </a:avLst>
          </a:prstGeom>
          <a:solidFill>
            <a:srgbClr val="157A78"/>
          </a:solidFill>
          <a:ln w="12700">
            <a:solidFill>
              <a:srgbClr val="157A78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12303F">
                <a:alpha val="8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8572500" y="4343400"/>
            <a:ext cx="2667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Zrušeno. Sobota? Prosím…</a:t>
            </a:r>
            <a:endParaRPr lang="en-US" sz="1500" dirty="0"/>
          </a:p>
        </p:txBody>
      </p:sp>
      <p:sp>
        <p:nvSpPr>
          <p:cNvPr id="75" name="Text 73"/>
          <p:cNvSpPr/>
          <p:nvPr/>
        </p:nvSpPr>
        <p:spPr>
          <a:xfrm>
            <a:off x="762000" y="5715000"/>
            <a:ext cx="209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-200" kern="0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7–9×</a:t>
            </a:r>
            <a:endParaRPr lang="en-US" sz="5200" dirty="0"/>
          </a:p>
        </p:txBody>
      </p:sp>
      <p:sp>
        <p:nvSpPr>
          <p:cNvPr id="76" name="Text 74"/>
          <p:cNvSpPr/>
          <p:nvPr/>
        </p:nvSpPr>
        <p:spPr>
          <a:xfrm>
            <a:off x="2921000" y="5715000"/>
            <a:ext cx="850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měsíčně na jeden byt. Desítky minut u každé rezervace.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3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29500" y="-2857500"/>
            <a:ext cx="6985000" cy="6985000"/>
          </a:xfrm>
          <a:prstGeom prst="ellipse">
            <a:avLst/>
          </a:prstGeom>
          <a:solidFill>
            <a:srgbClr val="1B4A55">
              <a:alpha val="90000"/>
            </a:srgbClr>
          </a:solidFill>
          <a:ln w="12700">
            <a:solidFill>
              <a:srgbClr val="1B4A5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70000" y="5207000"/>
            <a:ext cx="3302000" cy="3302000"/>
          </a:xfrm>
          <a:prstGeom prst="ellipse">
            <a:avLst/>
          </a:prstGeom>
          <a:solidFill>
            <a:srgbClr val="0F3A44">
              <a:alpha val="80000"/>
            </a:srgbClr>
          </a:solidFill>
          <a:ln w="12700">
            <a:solidFill>
              <a:srgbClr val="0F3A4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6350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7FD1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WHYS · ISHIKAWA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9525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Proč se úklid objednává ručně?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62000" y="2032000"/>
            <a:ext cx="3420533" cy="2095500"/>
          </a:xfrm>
          <a:prstGeom prst="roundRect">
            <a:avLst>
              <a:gd name="adj" fmla="val 9697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6000" y="2286000"/>
            <a:ext cx="406400" cy="406400"/>
          </a:xfrm>
          <a:prstGeom prst="ellipse">
            <a:avLst/>
          </a:prstGeom>
          <a:solidFill>
            <a:srgbClr val="12303F">
              <a:alpha val="0"/>
            </a:srgbClr>
          </a:solidFill>
          <a:ln w="44450">
            <a:solidFill>
              <a:srgbClr val="D962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6000" y="228600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16000" y="2857500"/>
            <a:ext cx="2912533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Kalendář nikam nevede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16000" y="3619500"/>
            <a:ext cx="29125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systémová příčina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5733" y="2032000"/>
            <a:ext cx="3420533" cy="2095500"/>
          </a:xfrm>
          <a:prstGeom prst="roundRect">
            <a:avLst>
              <a:gd name="adj" fmla="val 9697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39733" y="2286000"/>
            <a:ext cx="406400" cy="406400"/>
          </a:xfrm>
          <a:prstGeom prst="ellipse">
            <a:avLst/>
          </a:prstGeom>
          <a:solidFill>
            <a:srgbClr val="12303F">
              <a:alpha val="0"/>
            </a:srgbClr>
          </a:solidFill>
          <a:ln w="44450">
            <a:solidFill>
              <a:srgbClr val="D962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9733" y="228600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39733" y="2857500"/>
            <a:ext cx="2912533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7–9 úklidů měsíčně na byt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39733" y="3619500"/>
            <a:ext cx="29125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chybí měřítko pro vlastní nástroj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09467" y="2032000"/>
            <a:ext cx="3420533" cy="2095500"/>
          </a:xfrm>
          <a:prstGeom prst="roundRect">
            <a:avLst>
              <a:gd name="adj" fmla="val 9697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3467" y="2286000"/>
            <a:ext cx="406400" cy="406400"/>
          </a:xfrm>
          <a:prstGeom prst="ellipse">
            <a:avLst/>
          </a:prstGeom>
          <a:solidFill>
            <a:srgbClr val="12303F">
              <a:alpha val="0"/>
            </a:srgbClr>
          </a:solidFill>
          <a:ln w="44450">
            <a:solidFill>
              <a:srgbClr val="D962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3467" y="2286000"/>
            <a:ext cx="40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63467" y="2857500"/>
            <a:ext cx="2912533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Každý majitel to dělá jinak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63467" y="3619500"/>
            <a:ext cx="29125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behaviorální příčina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2000" y="4826000"/>
            <a:ext cx="10668000" cy="1397000"/>
          </a:xfrm>
          <a:prstGeom prst="roundRect">
            <a:avLst>
              <a:gd name="adj" fmla="val 14545"/>
            </a:avLst>
          </a:prstGeom>
          <a:solidFill>
            <a:srgbClr val="157A78"/>
          </a:solidFill>
          <a:ln w="12700">
            <a:solidFill>
              <a:srgbClr val="157A7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7600" y="4826000"/>
            <a:ext cx="99568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7FD1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Kořenová příčina: </a:t>
            </a:r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úklid mezi hosty je častý, ale roztříštěný proces bez sdílené infrastruktury. Vyplatí se až při agregaci mnoha majitelů.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29500" y="-2857500"/>
            <a:ext cx="6985000" cy="6985000"/>
          </a:xfrm>
          <a:prstGeom prst="ellipse">
            <a:avLst/>
          </a:prstGeom>
          <a:solidFill>
            <a:srgbClr val="D9ECEA">
              <a:alpha val="90000"/>
            </a:srgbClr>
          </a:solidFill>
          <a:ln w="12700">
            <a:solidFill>
              <a:srgbClr val="D9EC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70000" y="5207000"/>
            <a:ext cx="3302000" cy="3302000"/>
          </a:xfrm>
          <a:prstGeom prst="ellipse">
            <a:avLst/>
          </a:prstGeom>
          <a:solidFill>
            <a:srgbClr val="FBE6D9">
              <a:alpha val="80000"/>
            </a:srgbClr>
          </a:solidFill>
          <a:ln w="12700">
            <a:solidFill>
              <a:srgbClr val="FBE6D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6350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5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ŘEŠENÍ · BEZ RUČNÍCH OBJEDNÁVEK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9525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spc="-100" kern="0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 rezervace k uklizenému bytu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62000" y="2159000"/>
            <a:ext cx="1849120" cy="24130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12303F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9800" y="2349500"/>
            <a:ext cx="482600" cy="482600"/>
          </a:xfrm>
          <a:prstGeom prst="ellipse">
            <a:avLst/>
          </a:prstGeom>
          <a:solidFill>
            <a:srgbClr val="157A78"/>
          </a:solidFill>
          <a:ln w="12700">
            <a:solidFill>
              <a:srgbClr val="157A78">
                <a:alpha val="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450" y="2470150"/>
            <a:ext cx="241300" cy="2413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9800" y="2984500"/>
            <a:ext cx="149352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Nová rezervace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39800" y="3619500"/>
            <a:ext cx="149352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rezervuje termín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611120" y="3111500"/>
            <a:ext cx="355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966720" y="2159000"/>
            <a:ext cx="1849120" cy="24130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12303F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44520" y="2349500"/>
            <a:ext cx="482600" cy="482600"/>
          </a:xfrm>
          <a:prstGeom prst="ellipse">
            <a:avLst/>
          </a:prstGeom>
          <a:solidFill>
            <a:srgbClr val="157A78"/>
          </a:solidFill>
          <a:ln w="12700">
            <a:solidFill>
              <a:srgbClr val="157A78">
                <a:alpha val="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170" y="2470150"/>
            <a:ext cx="241300" cy="2413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144520" y="2984500"/>
            <a:ext cx="149352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Kalendář (iCal)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144520" y="3619500"/>
            <a:ext cx="149352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připojen jednorázově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815840" y="3111500"/>
            <a:ext cx="355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5171440" y="2159000"/>
            <a:ext cx="1849120" cy="24130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12303F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349240" y="2349500"/>
            <a:ext cx="482600" cy="482600"/>
          </a:xfrm>
          <a:prstGeom prst="ellipse">
            <a:avLst/>
          </a:prstGeom>
          <a:solidFill>
            <a:srgbClr val="157A78"/>
          </a:solidFill>
          <a:ln w="12700">
            <a:solidFill>
              <a:srgbClr val="157A78">
                <a:alpha val="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890" y="2470150"/>
            <a:ext cx="241300" cy="2413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49240" y="2984500"/>
            <a:ext cx="149352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Úklidový slot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5349240" y="3619500"/>
            <a:ext cx="149352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okno mezi odjezdem a příjezdem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020560" y="3111500"/>
            <a:ext cx="355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19"/>
          <p:cNvSpPr/>
          <p:nvPr/>
        </p:nvSpPr>
        <p:spPr>
          <a:xfrm>
            <a:off x="7376160" y="2159000"/>
            <a:ext cx="1849120" cy="24130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12303F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553960" y="2349500"/>
            <a:ext cx="482600" cy="482600"/>
          </a:xfrm>
          <a:prstGeom prst="ellipse">
            <a:avLst/>
          </a:prstGeom>
          <a:solidFill>
            <a:srgbClr val="157A78"/>
          </a:solidFill>
          <a:ln w="12700">
            <a:solidFill>
              <a:srgbClr val="157A78">
                <a:alpha val="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4610" y="2470150"/>
            <a:ext cx="241300" cy="2413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553960" y="2984500"/>
            <a:ext cx="149352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Nabídka &amp; přijetí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7553960" y="3619500"/>
            <a:ext cx="149352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uklízečka v okolí, první bere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9225280" y="3111500"/>
            <a:ext cx="355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4"/>
          <p:cNvSpPr/>
          <p:nvPr/>
        </p:nvSpPr>
        <p:spPr>
          <a:xfrm>
            <a:off x="9580880" y="2159000"/>
            <a:ext cx="1849120" cy="24130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12303F">
                <a:alpha val="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9758680" y="2349500"/>
            <a:ext cx="482600" cy="482600"/>
          </a:xfrm>
          <a:prstGeom prst="ellipse">
            <a:avLst/>
          </a:prstGeom>
          <a:solidFill>
            <a:srgbClr val="157A78"/>
          </a:solidFill>
          <a:ln w="12700">
            <a:solidFill>
              <a:srgbClr val="157A78">
                <a:alpha val="0"/>
              </a:srgbClr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9330" y="2470150"/>
            <a:ext cx="241300" cy="2413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758680" y="2984500"/>
            <a:ext cx="149352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Úklid + fotoprotokol</a:t>
            </a:r>
            <a:endParaRPr lang="en-US" sz="1800" dirty="0"/>
          </a:p>
        </p:txBody>
      </p:sp>
      <p:sp>
        <p:nvSpPr>
          <p:cNvPr id="34" name="Text 27"/>
          <p:cNvSpPr/>
          <p:nvPr/>
        </p:nvSpPr>
        <p:spPr>
          <a:xfrm>
            <a:off x="9758680" y="3619500"/>
            <a:ext cx="149352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majitel dostane jen potvrzení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762000" y="5334000"/>
            <a:ext cx="7112000" cy="952500"/>
          </a:xfrm>
          <a:prstGeom prst="roundRect">
            <a:avLst>
              <a:gd name="adj" fmla="val 16000"/>
            </a:avLst>
          </a:prstGeom>
          <a:solidFill>
            <a:srgbClr val="FBE6D9"/>
          </a:solidFill>
          <a:ln w="25400">
            <a:solidFill>
              <a:srgbClr val="D9622B"/>
            </a:solidFill>
            <a:prstDash val="dash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200" y="5670550"/>
            <a:ext cx="279400" cy="27940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397000" y="5334000"/>
            <a:ext cx="635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3C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Změna nebo zrušení rezervace → slot se přeplánuje sám.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8A3C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Výpadek uklízečky → záskok na jedno kliknutí.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8128000" y="54610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50" kern="0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ZÁSAH MAJITELE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7620000" y="5746750"/>
            <a:ext cx="381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5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 při registraci · dál žádný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29500" y="-2857500"/>
            <a:ext cx="6985000" cy="6985000"/>
          </a:xfrm>
          <a:prstGeom prst="ellipse">
            <a:avLst/>
          </a:prstGeom>
          <a:solidFill>
            <a:srgbClr val="D9ECEA">
              <a:alpha val="90000"/>
            </a:srgbClr>
          </a:solidFill>
          <a:ln w="12700">
            <a:solidFill>
              <a:srgbClr val="D9EC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70000" y="5207000"/>
            <a:ext cx="3302000" cy="3302000"/>
          </a:xfrm>
          <a:prstGeom prst="ellipse">
            <a:avLst/>
          </a:prstGeom>
          <a:solidFill>
            <a:srgbClr val="FBE6D9">
              <a:alpha val="80000"/>
            </a:srgbClr>
          </a:solidFill>
          <a:ln w="12700">
            <a:solidFill>
              <a:srgbClr val="FBE6D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6350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5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952500"/>
            <a:ext cx="9525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spc="-100" kern="0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Komu se úklid nabídne? Rozhoduje vážené skóre</a:t>
            </a:r>
            <a:endParaRPr lang="en-US" sz="4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62000" y="2349500"/>
          <a:ext cx="6985000" cy="355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128000" y="2413000"/>
            <a:ext cx="3302000" cy="3048000"/>
          </a:xfrm>
          <a:prstGeom prst="roundRect">
            <a:avLst>
              <a:gd name="adj" fmla="val 6667"/>
            </a:avLst>
          </a:prstGeom>
          <a:solidFill>
            <a:srgbClr val="12303F"/>
          </a:solidFill>
          <a:ln w="12700">
            <a:solidFill>
              <a:srgbClr val="12303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07400" y="2667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7FD1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TRASOVÁNÍ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407400" y="2959100"/>
            <a:ext cx="27432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Čtyři byty vedle sebe místo čtyř rozesetých po Praze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407400" y="4064000"/>
            <a:ext cx="635000" cy="635000"/>
          </a:xfrm>
          <a:prstGeom prst="roundRect">
            <a:avLst>
              <a:gd name="adj" fmla="val 20000"/>
            </a:avLst>
          </a:prstGeom>
          <a:solidFill>
            <a:srgbClr val="157A78"/>
          </a:solidFill>
          <a:ln w="12700">
            <a:solidFill>
              <a:srgbClr val="157A78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0" y="4229100"/>
            <a:ext cx="304800" cy="3048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9131300" y="4064000"/>
            <a:ext cx="635000" cy="635000"/>
          </a:xfrm>
          <a:prstGeom prst="roundRect">
            <a:avLst>
              <a:gd name="adj" fmla="val 20000"/>
            </a:avLst>
          </a:prstGeom>
          <a:solidFill>
            <a:srgbClr val="157A78"/>
          </a:solidFill>
          <a:ln w="12700">
            <a:solidFill>
              <a:srgbClr val="157A78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400" y="4229100"/>
            <a:ext cx="304800" cy="3048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855200" y="4064000"/>
            <a:ext cx="635000" cy="635000"/>
          </a:xfrm>
          <a:prstGeom prst="roundRect">
            <a:avLst>
              <a:gd name="adj" fmla="val 20000"/>
            </a:avLst>
          </a:prstGeom>
          <a:solidFill>
            <a:srgbClr val="157A78"/>
          </a:solidFill>
          <a:ln w="12700">
            <a:solidFill>
              <a:srgbClr val="157A78">
                <a:alpha val="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300" y="4229100"/>
            <a:ext cx="304800" cy="3048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10579100" y="4064000"/>
            <a:ext cx="635000" cy="635000"/>
          </a:xfrm>
          <a:prstGeom prst="roundRect">
            <a:avLst>
              <a:gd name="adj" fmla="val 20000"/>
            </a:avLst>
          </a:prstGeom>
          <a:solidFill>
            <a:srgbClr val="157A78"/>
          </a:solidFill>
          <a:ln w="12700">
            <a:solidFill>
              <a:srgbClr val="157A78">
                <a:alpha val="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0" y="4229100"/>
            <a:ext cx="304800" cy="3048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407400" y="4864100"/>
            <a:ext cx="2743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Uklízečka: 2 600 Kč denně místo 1 950 Kč. Majitel: nižší cena.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29500" y="-2857500"/>
            <a:ext cx="6985000" cy="6985000"/>
          </a:xfrm>
          <a:prstGeom prst="ellipse">
            <a:avLst/>
          </a:prstGeom>
          <a:solidFill>
            <a:srgbClr val="D9ECEA">
              <a:alpha val="90000"/>
            </a:srgbClr>
          </a:solidFill>
          <a:ln w="12700">
            <a:solidFill>
              <a:srgbClr val="D9EC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70000" y="5207000"/>
            <a:ext cx="3302000" cy="3302000"/>
          </a:xfrm>
          <a:prstGeom prst="ellipse">
            <a:avLst/>
          </a:prstGeom>
          <a:solidFill>
            <a:srgbClr val="FBE6D9">
              <a:alpha val="80000"/>
            </a:srgbClr>
          </a:solidFill>
          <a:ln w="12700">
            <a:solidFill>
              <a:srgbClr val="FBE6D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6350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5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VELIKOST TRHU · PRAHA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9525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spc="-100" kern="0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Malí hostitelé, které nikdo neobsluhuje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62000" y="2095500"/>
            <a:ext cx="3420533" cy="266700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12303F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41400" y="2349500"/>
            <a:ext cx="28617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41400" y="2628900"/>
            <a:ext cx="2861733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-200" kern="0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7 878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1041400" y="3594100"/>
            <a:ext cx="286173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aktivních bytů na Airbnb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1400" y="3975100"/>
            <a:ext cx="2861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1,1 % bytového fondu (IPR, 6/2026)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5733" y="2095500"/>
            <a:ext cx="3420533" cy="2667000"/>
          </a:xfrm>
          <a:prstGeom prst="roundRect">
            <a:avLst>
              <a:gd name="adj" fmla="val 7619"/>
            </a:avLst>
          </a:prstGeom>
          <a:solidFill>
            <a:srgbClr val="157A78"/>
          </a:solidFill>
          <a:ln w="12700">
            <a:solidFill>
              <a:srgbClr val="157A78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157A78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5133" y="2349500"/>
            <a:ext cx="28617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BFE7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· NÁŠ TRH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5133" y="2628900"/>
            <a:ext cx="2861733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-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3 900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4665133" y="3594100"/>
            <a:ext cx="286173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bytů majitelů 1–5 jednotek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65133" y="3975100"/>
            <a:ext cx="2861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FE7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1 400 hostitelů bez profesionální správy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09467" y="2095500"/>
            <a:ext cx="3420533" cy="266700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12303F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88867" y="2349500"/>
            <a:ext cx="28617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POPTÁVKA 2025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88867" y="2628900"/>
            <a:ext cx="2861733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-200" kern="0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8,27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8288867" y="3594100"/>
            <a:ext cx="286173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milionu hostů v Praze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88867" y="3975100"/>
            <a:ext cx="2861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nejvíce v historii (ČSÚ)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62000" y="5270500"/>
            <a:ext cx="1066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Full-service správci berou 15–20 % výnosu a kontrolu nad bytem. Úklidové firmy neznají kalendář.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5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Mezi tím chybí samoobslužná vrstva — to je SimplyClean.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29500" y="-2857500"/>
            <a:ext cx="6985000" cy="6985000"/>
          </a:xfrm>
          <a:prstGeom prst="ellipse">
            <a:avLst/>
          </a:prstGeom>
          <a:solidFill>
            <a:srgbClr val="D9ECEA">
              <a:alpha val="90000"/>
            </a:srgbClr>
          </a:solidFill>
          <a:ln w="12700">
            <a:solidFill>
              <a:srgbClr val="D9EC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70000" y="5207000"/>
            <a:ext cx="3302000" cy="3302000"/>
          </a:xfrm>
          <a:prstGeom prst="ellipse">
            <a:avLst/>
          </a:prstGeom>
          <a:solidFill>
            <a:srgbClr val="FBE6D9">
              <a:alpha val="80000"/>
            </a:srgbClr>
          </a:solidFill>
          <a:ln w="12700">
            <a:solidFill>
              <a:srgbClr val="FBE6D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6350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5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BYZNYS MODEL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9525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spc="-100" kern="0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Provize 18 %. Žádné předplatné.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62000" y="20574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Jeden úklid · 800 Kč (2,5 h × 300 Kč + materiál)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2000" y="2413000"/>
            <a:ext cx="8940800" cy="698500"/>
          </a:xfrm>
          <a:prstGeom prst="roundRect">
            <a:avLst>
              <a:gd name="adj" fmla="val 27273"/>
            </a:avLst>
          </a:prstGeom>
          <a:solidFill>
            <a:srgbClr val="157A78"/>
          </a:solidFill>
          <a:ln w="12700">
            <a:solidFill>
              <a:srgbClr val="157A78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12300" y="2413000"/>
            <a:ext cx="1917700" cy="698500"/>
          </a:xfrm>
          <a:prstGeom prst="roundRect">
            <a:avLst>
              <a:gd name="adj" fmla="val 27273"/>
            </a:avLst>
          </a:prstGeom>
          <a:solidFill>
            <a:srgbClr val="D9622B"/>
          </a:solidFill>
          <a:ln w="12700">
            <a:solidFill>
              <a:srgbClr val="D9622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12300" y="2413000"/>
            <a:ext cx="190500" cy="698500"/>
          </a:xfrm>
          <a:prstGeom prst="rect">
            <a:avLst/>
          </a:prstGeom>
          <a:solidFill>
            <a:srgbClr val="D9622B"/>
          </a:solidFill>
          <a:ln w="12700">
            <a:solidFill>
              <a:srgbClr val="D9622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1400" y="2413000"/>
            <a:ext cx="444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Uklízečka · 82 %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87900" y="2413000"/>
            <a:ext cx="444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656 Kč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512300" y="2413000"/>
            <a:ext cx="19177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18 % · 144 Kč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619500"/>
            <a:ext cx="2971800" cy="120650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12303F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5200" y="3784600"/>
            <a:ext cx="256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Marže na úklid (po platební bráně)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5200" y="4051300"/>
            <a:ext cx="2565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 Kč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886200" y="3619500"/>
            <a:ext cx="571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8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4610100" y="3619500"/>
            <a:ext cx="2971800" cy="1206500"/>
          </a:xfrm>
          <a:prstGeom prst="roundRect">
            <a:avLst>
              <a:gd name="adj" fmla="val 14737"/>
            </a:avLst>
          </a:prstGeom>
          <a:solidFill>
            <a:srgbClr val="157A78"/>
          </a:solidFill>
          <a:ln w="12700">
            <a:solidFill>
              <a:srgbClr val="157A78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157A78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13300" y="3784600"/>
            <a:ext cx="256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FE7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Marže na byt měsíčně (8 úklidů)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13300" y="4051300"/>
            <a:ext cx="2565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1 440 Kč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734300" y="3619500"/>
            <a:ext cx="571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8458200" y="3619500"/>
            <a:ext cx="2971800" cy="1206500"/>
          </a:xfrm>
          <a:prstGeom prst="roundRect">
            <a:avLst>
              <a:gd name="adj" fmla="val 14737"/>
            </a:avLst>
          </a:prstGeom>
          <a:solidFill>
            <a:srgbClr val="12303F"/>
          </a:solidFill>
          <a:ln w="12700">
            <a:solidFill>
              <a:srgbClr val="12303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61400" y="3784600"/>
            <a:ext cx="256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B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Návratnost akvizice (800–1 500 Kč)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61400" y="4051300"/>
            <a:ext cx="2565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měsíc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762000" y="53340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Fixní náklady: </a:t>
            </a:r>
            <a:pPr algn="l" indent="0" marL="0">
              <a:buNone/>
            </a:pPr>
            <a:r>
              <a:rPr lang="en-US" sz="1500" b="1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260 tis. Kč / měsíc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318000" y="53340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 zvratu: </a:t>
            </a:r>
            <a:pPr algn="ctr" indent="0" marL="0">
              <a:buNone/>
            </a:pPr>
            <a:r>
              <a:rPr lang="en-US" sz="1500" b="1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180–220 bytů (≈ 5 % SAM)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874000" y="53340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Strop SAM: </a:t>
            </a:r>
            <a:pPr algn="r" indent="0" marL="0">
              <a:buNone/>
            </a:pPr>
            <a:r>
              <a:rPr lang="en-US" sz="1500" b="1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56–67 mil. Kč ročně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3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29500" y="-2857500"/>
            <a:ext cx="6985000" cy="6985000"/>
          </a:xfrm>
          <a:prstGeom prst="ellipse">
            <a:avLst/>
          </a:prstGeom>
          <a:solidFill>
            <a:srgbClr val="1B4A55">
              <a:alpha val="90000"/>
            </a:srgbClr>
          </a:solidFill>
          <a:ln w="12700">
            <a:solidFill>
              <a:srgbClr val="1B4A5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70000" y="5207000"/>
            <a:ext cx="3302000" cy="3302000"/>
          </a:xfrm>
          <a:prstGeom prst="ellipse">
            <a:avLst/>
          </a:prstGeom>
          <a:solidFill>
            <a:srgbClr val="0F3A44">
              <a:alpha val="80000"/>
            </a:srgbClr>
          </a:solidFill>
          <a:ln w="12700">
            <a:solidFill>
              <a:srgbClr val="0F3A4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6350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7FD1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ETIKA A LEGISLATIVA · ZÁKON O PLATFORMOVÉ PRÁCI (ÚČINNOST 12/2026)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9525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Uklízečky zůstávají nezávislé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90600" y="1841500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FB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RIZIKOVÁ PRAXE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257800" y="18415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FB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NAŠE ŘEŠENÍ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2000" y="2159000"/>
            <a:ext cx="10668000" cy="635000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2381250"/>
            <a:ext cx="190500" cy="1905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08100" y="2159000"/>
            <a:ext cx="3746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Platforma určuje odměnu</a:t>
            </a:r>
            <a:endParaRPr lang="en-US" sz="15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2381250"/>
            <a:ext cx="190500" cy="1905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5300" y="2159000"/>
            <a:ext cx="56261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Sazbu si uklízečka stanovuje sama v doporučeném pásmu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762000" y="2895600"/>
            <a:ext cx="10668000" cy="635000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117850"/>
            <a:ext cx="190500" cy="1905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08100" y="2895600"/>
            <a:ext cx="3746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Sankce za odmítnutí zakázky</a:t>
            </a:r>
            <a:endParaRPr lang="en-US" sz="15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3117850"/>
            <a:ext cx="190500" cy="1905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575300" y="2895600"/>
            <a:ext cx="56261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Odmítnutí nemá žádný dopad na skóre ani přístup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762000" y="3632200"/>
            <a:ext cx="10668000" cy="635000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3854450"/>
            <a:ext cx="190500" cy="1905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08100" y="3632200"/>
            <a:ext cx="3746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Exkluzivita a povinná dostupnost</a:t>
            </a:r>
            <a:endParaRPr lang="en-US" sz="15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3854450"/>
            <a:ext cx="190500" cy="1905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575300" y="3632200"/>
            <a:ext cx="56261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Žádná — čas, oblast i další klienty volí sama</a:t>
            </a:r>
            <a:endParaRPr lang="en-US" sz="1500" dirty="0"/>
          </a:p>
        </p:txBody>
      </p:sp>
      <p:sp>
        <p:nvSpPr>
          <p:cNvPr id="23" name="Shape 15"/>
          <p:cNvSpPr/>
          <p:nvPr/>
        </p:nvSpPr>
        <p:spPr>
          <a:xfrm>
            <a:off x="762000" y="4368800"/>
            <a:ext cx="10668000" cy="635000"/>
          </a:xfrm>
          <a:prstGeom prst="roundRect">
            <a:avLst>
              <a:gd name="adj" fmla="val 22000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FFFFFF">
                <a:alpha val="12000"/>
              </a:srgbClr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" y="4591050"/>
            <a:ext cx="190500" cy="19050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308100" y="4368800"/>
            <a:ext cx="3746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A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Rozhoduje algoritmus</a:t>
            </a:r>
            <a:endParaRPr lang="en-US" sz="15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7800" y="4591050"/>
            <a:ext cx="190500" cy="1905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575300" y="4368800"/>
            <a:ext cx="56261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Vysvětlitelné skóre, lidský přezkum, jmenovitá kontaktní osoba</a:t>
            </a:r>
            <a:endParaRPr lang="en-US" sz="1500" dirty="0"/>
          </a:p>
        </p:txBody>
      </p:sp>
      <p:sp>
        <p:nvSpPr>
          <p:cNvPr id="28" name="Shape 18"/>
          <p:cNvSpPr/>
          <p:nvPr/>
        </p:nvSpPr>
        <p:spPr>
          <a:xfrm>
            <a:off x="762000" y="5397500"/>
            <a:ext cx="2571750" cy="762000"/>
          </a:xfrm>
          <a:prstGeom prst="roundRect">
            <a:avLst>
              <a:gd name="adj" fmla="val 15000"/>
            </a:avLst>
          </a:prstGeom>
          <a:solidFill>
            <a:srgbClr val="157A78"/>
          </a:solidFill>
          <a:ln w="12700">
            <a:solidFill>
              <a:srgbClr val="157A78">
                <a:alpha val="0"/>
              </a:srgbClr>
            </a:solidFill>
            <a:prstDash val="solid"/>
          </a:ln>
        </p:spPr>
      </p:sp>
      <p:sp>
        <p:nvSpPr>
          <p:cNvPr id="29" name="Text 19"/>
          <p:cNvSpPr/>
          <p:nvPr/>
        </p:nvSpPr>
        <p:spPr>
          <a:xfrm>
            <a:off x="863600" y="5397500"/>
            <a:ext cx="23685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Transparentní cena</a:t>
            </a:r>
            <a:endParaRPr lang="en-US" sz="1350" dirty="0"/>
          </a:p>
        </p:txBody>
      </p:sp>
      <p:sp>
        <p:nvSpPr>
          <p:cNvPr id="30" name="Shape 20"/>
          <p:cNvSpPr/>
          <p:nvPr/>
        </p:nvSpPr>
        <p:spPr>
          <a:xfrm>
            <a:off x="3460750" y="5397500"/>
            <a:ext cx="2571750" cy="762000"/>
          </a:xfrm>
          <a:prstGeom prst="roundRect">
            <a:avLst>
              <a:gd name="adj" fmla="val 15000"/>
            </a:avLst>
          </a:prstGeom>
          <a:solidFill>
            <a:srgbClr val="157A78"/>
          </a:solidFill>
          <a:ln w="12700">
            <a:solidFill>
              <a:srgbClr val="157A78">
                <a:alpha val="0"/>
              </a:srgbClr>
            </a:solidFill>
            <a:prstDash val="solid"/>
          </a:ln>
        </p:spPr>
      </p:sp>
      <p:sp>
        <p:nvSpPr>
          <p:cNvPr id="31" name="Text 21"/>
          <p:cNvSpPr/>
          <p:nvPr/>
        </p:nvSpPr>
        <p:spPr>
          <a:xfrm>
            <a:off x="3562350" y="5397500"/>
            <a:ext cx="23685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Výplata každý týden</a:t>
            </a:r>
            <a:endParaRPr lang="en-US" sz="1350" dirty="0"/>
          </a:p>
        </p:txBody>
      </p:sp>
      <p:sp>
        <p:nvSpPr>
          <p:cNvPr id="32" name="Shape 22"/>
          <p:cNvSpPr/>
          <p:nvPr/>
        </p:nvSpPr>
        <p:spPr>
          <a:xfrm>
            <a:off x="6159500" y="5397500"/>
            <a:ext cx="2571750" cy="762000"/>
          </a:xfrm>
          <a:prstGeom prst="roundRect">
            <a:avLst>
              <a:gd name="adj" fmla="val 15000"/>
            </a:avLst>
          </a:prstGeom>
          <a:solidFill>
            <a:srgbClr val="157A78"/>
          </a:solidFill>
          <a:ln w="12700">
            <a:solidFill>
              <a:srgbClr val="157A78">
                <a:alpha val="0"/>
              </a:srgbClr>
            </a:solidFill>
            <a:prstDash val="solid"/>
          </a:ln>
        </p:spPr>
      </p:sp>
      <p:sp>
        <p:nvSpPr>
          <p:cNvPr id="33" name="Text 23"/>
          <p:cNvSpPr/>
          <p:nvPr/>
        </p:nvSpPr>
        <p:spPr>
          <a:xfrm>
            <a:off x="6261100" y="5397500"/>
            <a:ext cx="23685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Žádné soutěžení cenou dolů</a:t>
            </a:r>
            <a:endParaRPr lang="en-US" sz="1350" dirty="0"/>
          </a:p>
        </p:txBody>
      </p:sp>
      <p:sp>
        <p:nvSpPr>
          <p:cNvPr id="34" name="Shape 24"/>
          <p:cNvSpPr/>
          <p:nvPr/>
        </p:nvSpPr>
        <p:spPr>
          <a:xfrm>
            <a:off x="8858250" y="5397500"/>
            <a:ext cx="2571750" cy="762000"/>
          </a:xfrm>
          <a:prstGeom prst="roundRect">
            <a:avLst>
              <a:gd name="adj" fmla="val 15000"/>
            </a:avLst>
          </a:prstGeom>
          <a:solidFill>
            <a:srgbClr val="157A78"/>
          </a:solidFill>
          <a:ln w="12700">
            <a:solidFill>
              <a:srgbClr val="157A78">
                <a:alpha val="0"/>
              </a:srgbClr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8959850" y="5397500"/>
            <a:ext cx="23685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 · UA · EN rozhraní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29500" y="-2857500"/>
            <a:ext cx="6985000" cy="6985000"/>
          </a:xfrm>
          <a:prstGeom prst="ellipse">
            <a:avLst/>
          </a:prstGeom>
          <a:solidFill>
            <a:srgbClr val="D9ECEA">
              <a:alpha val="90000"/>
            </a:srgbClr>
          </a:solidFill>
          <a:ln w="12700">
            <a:solidFill>
              <a:srgbClr val="D9ECE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70000" y="5207000"/>
            <a:ext cx="3302000" cy="3302000"/>
          </a:xfrm>
          <a:prstGeom prst="ellipse">
            <a:avLst/>
          </a:prstGeom>
          <a:solidFill>
            <a:srgbClr val="FBE6D9">
              <a:alpha val="80000"/>
            </a:srgbClr>
          </a:solidFill>
          <a:ln w="12700">
            <a:solidFill>
              <a:srgbClr val="FBE6D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635000"/>
            <a:ext cx="1066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57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CÍL · 6 MĚSÍCŮ OD SPUŠTĚNÍ V PRAZE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952500"/>
            <a:ext cx="1066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spc="-100" kern="0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budeme měřit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762000" y="2159000"/>
            <a:ext cx="3420533" cy="2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12303F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66800" y="2463800"/>
            <a:ext cx="2810933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spc="-300" kern="0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</a:t>
            </a:r>
            <a:endParaRPr lang="en-US" sz="7000" dirty="0"/>
          </a:p>
        </p:txBody>
      </p:sp>
      <p:sp>
        <p:nvSpPr>
          <p:cNvPr id="8" name="Text 6"/>
          <p:cNvSpPr/>
          <p:nvPr/>
        </p:nvSpPr>
        <p:spPr>
          <a:xfrm>
            <a:off x="1066800" y="3606800"/>
            <a:ext cx="2810933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aktivních bytů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85733" y="2159000"/>
            <a:ext cx="3420533" cy="2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12303F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90533" y="2463800"/>
            <a:ext cx="2810933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spc="-300" kern="0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95 %</a:t>
            </a:r>
            <a:endParaRPr lang="en-US" sz="7000" dirty="0"/>
          </a:p>
        </p:txBody>
      </p:sp>
      <p:sp>
        <p:nvSpPr>
          <p:cNvPr id="11" name="Text 9"/>
          <p:cNvSpPr/>
          <p:nvPr/>
        </p:nvSpPr>
        <p:spPr>
          <a:xfrm>
            <a:off x="4690533" y="3606800"/>
            <a:ext cx="2810933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úklidů objednaných bez zásahu majitele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009467" y="2159000"/>
            <a:ext cx="3420533" cy="2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12303F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14267" y="2463800"/>
            <a:ext cx="2810933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spc="-300" kern="0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min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8314267" y="3606800"/>
            <a:ext cx="2810933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času majitele na jeden úklid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62000" y="5270500"/>
            <a:ext cx="1066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Hlavní riziko: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málo uklízeček na startu → spouštíme v jedné části města s hustou nabídkou bytů.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23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Záloha: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5B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iCal jako nezávislý kanál, ruční fallback.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3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29500" y="-2857500"/>
            <a:ext cx="6985000" cy="6985000"/>
          </a:xfrm>
          <a:prstGeom prst="ellipse">
            <a:avLst/>
          </a:prstGeom>
          <a:solidFill>
            <a:srgbClr val="1B4A55">
              <a:alpha val="90000"/>
            </a:srgbClr>
          </a:solidFill>
          <a:ln w="12700">
            <a:solidFill>
              <a:srgbClr val="1B4A5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270000" y="5207000"/>
            <a:ext cx="3302000" cy="3302000"/>
          </a:xfrm>
          <a:prstGeom prst="ellipse">
            <a:avLst/>
          </a:prstGeom>
          <a:solidFill>
            <a:srgbClr val="0F3A44">
              <a:alpha val="80000"/>
            </a:srgbClr>
          </a:solidFill>
          <a:ln w="12700">
            <a:solidFill>
              <a:srgbClr val="0F3A4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33500" y="1905000"/>
            <a:ext cx="9525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800" b="1" spc="-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„Nula zpráv měsíčně.</a:t>
            </a:r>
            <a:endParaRPr lang="en-US" sz="4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800" b="1" spc="-200" kern="0" dirty="0">
                <a:solidFill>
                  <a:srgbClr val="7FD1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Kalendář připojíte jednou.“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4527550" y="41910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57A78"/>
          </a:solidFill>
          <a:ln w="12700">
            <a:solidFill>
              <a:srgbClr val="157A78">
                <a:alpha val="0"/>
              </a:srgbClr>
            </a:solidFill>
            <a:prstDash val="solid"/>
          </a:ln>
          <a:effectLst>
            <a:outerShdw sx="100000" sy="100000" kx="0" ky="0" algn="bl" rotWithShape="0" blurRad="177800" dist="63500" dir="5400000">
              <a:srgbClr val="157A7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630420" y="4293870"/>
            <a:ext cx="251460" cy="251460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4450" y="4102100"/>
            <a:ext cx="266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SimplyClean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62000" y="5588000"/>
            <a:ext cx="1066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Michael Černý · Jakub Lisý · Anna Štefanková · Oliver Slivka · Martin Růžek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FB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Tým č. 3 „Mladé svaly“ · Skupina S4 · Mentor prof. Josef Hynek · VŠE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SimplyClean</dc:title>
  <dc:subject>PptxGenJS Presentation</dc:subject>
  <dc:creator>Tým č. 3 „Mladé svaly“</dc:creator>
  <cp:lastModifiedBy>Tým č. 3 „Mladé svaly“</cp:lastModifiedBy>
  <cp:revision>1</cp:revision>
  <dcterms:created xsi:type="dcterms:W3CDTF">2026-09-15T12:57:38Z</dcterms:created>
  <dcterms:modified xsi:type="dcterms:W3CDTF">2026-09-15T12:57:38Z</dcterms:modified>
</cp:coreProperties>
</file>